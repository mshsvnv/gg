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Golos Text"/>
      <p:regular r:id="rId21"/>
      <p:bold r:id="rId22"/>
    </p:embeddedFon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7097FD-C12D-457B-BACE-93C94D9100F9}">
  <a:tblStyle styleId="{967097FD-C12D-457B-BACE-93C94D9100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losText-bold.fntdata"/><Relationship Id="rId21" Type="http://schemas.openxmlformats.org/officeDocument/2006/relationships/font" Target="fonts/GolosText-regular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e706b7ec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e706b7ecb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e706b7e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ee706b7ec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e706b7ec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e706b7ecb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e706b7ec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ee706b7ecb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e706b7ec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e706b7ecb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e706b7ec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ee706b7ecb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5" name="Google Shape;25;p3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5" name="Google Shape;85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20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20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1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7" name="Google Shape;107;p21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08" name="Google Shape;108;p21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9" name="Google Shape;109;p21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2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4" name="Google Shape;114;p22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5" name="Google Shape;115;p22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6" name="Google Shape;116;p22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17" name="Google Shape;117;p22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4" name="Google Shape;124;p23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5" name="Google Shape;125;p23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6" name="Google Shape;126;p23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3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0" name="Google Shape;130;p23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1" name="Google Shape;131;p23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9.jpg"/><Relationship Id="rId9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1371600" y="2442525"/>
            <a:ext cx="64008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</a:pPr>
            <a:r>
              <a:rPr b="0" lang="ru-RU" sz="2000">
                <a:solidFill>
                  <a:schemeClr val="lt1"/>
                </a:solidFill>
              </a:rPr>
              <a:t>Научно исследовательская работа по теме:</a:t>
            </a:r>
            <a:br>
              <a:rPr b="0" lang="ru-RU" sz="2000">
                <a:solidFill>
                  <a:schemeClr val="lt1"/>
                </a:solidFill>
              </a:rPr>
            </a:br>
            <a:r>
              <a:rPr lang="ru-RU" sz="2000">
                <a:solidFill>
                  <a:schemeClr val="lt1"/>
                </a:solidFill>
              </a:rPr>
              <a:t>«</a:t>
            </a:r>
            <a:r>
              <a:rPr lang="ru-RU" sz="2200">
                <a:solidFill>
                  <a:schemeClr val="lt1"/>
                </a:solidFill>
              </a:rPr>
              <a:t>С</a:t>
            </a:r>
            <a:r>
              <a:rPr lang="ru-RU" sz="2200">
                <a:solidFill>
                  <a:schemeClr val="lt1"/>
                </a:solidFill>
              </a:rPr>
              <a:t>равнение методов оптимизации архитектуры IFRNet для интерполяции видеокадров с целью повышения вычислительной эффективности</a:t>
            </a:r>
            <a:r>
              <a:rPr lang="ru-RU" sz="2000">
                <a:solidFill>
                  <a:schemeClr val="lt1"/>
                </a:solidFill>
              </a:rPr>
              <a:t>»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2432050" y="4125275"/>
            <a:ext cx="64008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</a:pPr>
            <a:r>
              <a:rPr b="1" i="0" lang="ru-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Обучающийся:</a:t>
            </a:r>
            <a:r>
              <a:rPr b="0" i="0" lang="ru-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Савинова М. Г., №S4101</a:t>
            </a:r>
            <a:endParaRPr b="0" i="0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</a:pPr>
            <a:r>
              <a:rPr b="1" i="0" lang="ru-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Научный руководитель:</a:t>
            </a:r>
            <a:r>
              <a:rPr b="0" i="0" lang="ru-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Волчек Д. Г.</a:t>
            </a:r>
            <a:endParaRPr b="1" i="0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None/>
            </a:pPr>
            <a:r>
              <a:rPr lang="ru-RU"/>
              <a:t>Актуальность работы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457200" y="943208"/>
            <a:ext cx="8171543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ru-RU"/>
              <a:t>Интерполяция видеокадров</a:t>
            </a:r>
            <a:r>
              <a:rPr lang="ru-RU"/>
              <a:t> - это процесс генерации промежуточных кадров между двумя заданными кадрами видео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ru-RU"/>
              <a:t>Применение:</a:t>
            </a:r>
            <a:endParaRPr/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/>
              <a:t>создание плавного видео (VR, игры, трансляции)</a:t>
            </a:r>
            <a:endParaRPr/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/>
              <a:t>замедление видео (кино, спорт)</a:t>
            </a:r>
            <a:endParaRPr/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/>
              <a:t>синтез движений человека (анимация, VR)</a:t>
            </a:r>
            <a:endParaRPr/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/>
              <a:t>оптимизация потоковой передачи (видеозвонки, стриминг)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ru-RU"/>
              <a:t>Ограничения:</a:t>
            </a:r>
            <a:endParaRPr b="1"/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SzPts val="1400"/>
              <a:buChar char="•"/>
            </a:pPr>
            <a:r>
              <a:rPr lang="ru-RU"/>
              <a:t>с</a:t>
            </a:r>
            <a:r>
              <a:rPr lang="ru-RU"/>
              <a:t>овременные архитектуры достигают высокого качества, но имеют высокую вычислительную сложность</a:t>
            </a:r>
            <a:endParaRPr/>
          </a:p>
          <a:p>
            <a:pPr indent="-285750" lvl="0" marL="285750" rtl="0" algn="l">
              <a:spcBef>
                <a:spcPts val="280"/>
              </a:spcBef>
              <a:spcAft>
                <a:spcPts val="0"/>
              </a:spcAft>
              <a:buSzPts val="1400"/>
              <a:buChar char="•"/>
            </a:pPr>
            <a:r>
              <a:rPr lang="ru-RU"/>
              <a:t>обработка в RGB требует больших ресурсов -&gt; ограничение для реального времени</a:t>
            </a:r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8683625" y="4657160"/>
            <a:ext cx="285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457200" y="943208"/>
            <a:ext cx="8171543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ru-RU" sz="1600"/>
              <a:t>Цель работы </a:t>
            </a:r>
            <a:r>
              <a:rPr lang="ru-RU" sz="1600"/>
              <a:t>-</a:t>
            </a:r>
            <a:r>
              <a:rPr b="1" lang="ru-RU" sz="1600"/>
              <a:t> </a:t>
            </a:r>
            <a:r>
              <a:rPr lang="ru-RU" sz="1600"/>
              <a:t>сравнение методов оптимизации архитектуры IFRNet для интерполяции видеокадров с целью повышения вычислительной эффективности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ru-RU" sz="1600"/>
              <a:t>Задачи: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ru-RU" sz="1600"/>
              <a:t>провести анализ архитектуры </a:t>
            </a:r>
            <a:r>
              <a:rPr lang="ru-RU" sz="1600">
                <a:latin typeface="Consolas"/>
                <a:ea typeface="Consolas"/>
                <a:cs typeface="Consolas"/>
                <a:sym typeface="Consolas"/>
              </a:rPr>
              <a:t>IFRNet </a:t>
            </a:r>
            <a:r>
              <a:rPr lang="ru-RU" sz="1600"/>
              <a:t>и обосновать её выбор</a:t>
            </a:r>
            <a:endParaRPr sz="1600"/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ru-RU" sz="1600"/>
              <a:t>реализовать методы оптимизации: равномерное сокращение каналов (</a:t>
            </a:r>
            <a:r>
              <a:rPr lang="ru-RU" sz="1600">
                <a:latin typeface="Consolas"/>
                <a:ea typeface="Consolas"/>
                <a:cs typeface="Consolas"/>
                <a:sym typeface="Consolas"/>
              </a:rPr>
              <a:t>RGB/2</a:t>
            </a:r>
            <a:r>
              <a:rPr lang="ru-RU" sz="1600"/>
              <a:t>) и асимметричную обработку в пространстве </a:t>
            </a:r>
            <a:r>
              <a:rPr lang="ru-RU" sz="1600">
                <a:latin typeface="Consolas"/>
                <a:ea typeface="Consolas"/>
                <a:cs typeface="Consolas"/>
                <a:sym typeface="Consolas"/>
              </a:rPr>
              <a:t>YUV420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ru-RU" sz="1600"/>
              <a:t>обучить модели на датасете </a:t>
            </a:r>
            <a:r>
              <a:rPr lang="ru-RU" sz="1600">
                <a:latin typeface="Consolas"/>
                <a:ea typeface="Consolas"/>
                <a:cs typeface="Consolas"/>
                <a:sym typeface="Consolas"/>
              </a:rPr>
              <a:t>Vimeo90K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ru-RU" sz="1600"/>
              <a:t> провести сравнительный анализ методов по метрикам эффективности (</a:t>
            </a:r>
            <a:r>
              <a:rPr lang="ru-RU" sz="1600">
                <a:latin typeface="Consolas"/>
                <a:ea typeface="Consolas"/>
                <a:cs typeface="Consolas"/>
                <a:sym typeface="Consolas"/>
              </a:rPr>
              <a:t>FLOPs, параметры, время инференса</a:t>
            </a:r>
            <a:r>
              <a:rPr lang="ru-RU" sz="1600"/>
              <a:t>) и качества (</a:t>
            </a:r>
            <a:r>
              <a:rPr lang="ru-RU" sz="1600">
                <a:latin typeface="Consolas"/>
                <a:ea typeface="Consolas"/>
                <a:cs typeface="Consolas"/>
                <a:sym typeface="Consolas"/>
              </a:rPr>
              <a:t>PSNR, SSIM, LPIPS, DISTS</a:t>
            </a:r>
            <a:r>
              <a:rPr lang="ru-RU" sz="1600"/>
              <a:t>)</a:t>
            </a:r>
            <a:endParaRPr sz="1600"/>
          </a:p>
        </p:txBody>
      </p:sp>
      <p:sp>
        <p:nvSpPr>
          <p:cNvPr id="151" name="Google Shape;151;p26"/>
          <p:cNvSpPr txBox="1"/>
          <p:nvPr/>
        </p:nvSpPr>
        <p:spPr>
          <a:xfrm>
            <a:off x="8683625" y="4657160"/>
            <a:ext cx="285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None/>
            </a:pPr>
            <a:r>
              <a:rPr lang="ru-RU"/>
              <a:t>Существующие решения</a:t>
            </a:r>
            <a:endParaRPr/>
          </a:p>
        </p:txBody>
      </p:sp>
      <p:sp>
        <p:nvSpPr>
          <p:cNvPr id="157" name="Google Shape;157;p27"/>
          <p:cNvSpPr/>
          <p:nvPr/>
        </p:nvSpPr>
        <p:spPr>
          <a:xfrm>
            <a:off x="457200" y="2015160"/>
            <a:ext cx="1953039" cy="1818861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30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Методы на основе </a:t>
            </a:r>
            <a:r>
              <a:rPr b="1"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оптического потока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2581689" y="2015160"/>
            <a:ext cx="1953039" cy="1818861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30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Методы на основе </a:t>
            </a:r>
            <a:r>
              <a:rPr b="1"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адаптивных ядер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4706178" y="2015160"/>
            <a:ext cx="1953039" cy="1818861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30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Гибридные методы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6830668" y="2015160"/>
            <a:ext cx="1953039" cy="1818861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30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Методы на основе </a:t>
            </a:r>
            <a:r>
              <a:rPr b="1"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трансформеров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8683625" y="4657160"/>
            <a:ext cx="28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None/>
            </a:pPr>
            <a:r>
              <a:rPr lang="ru-RU"/>
              <a:t>Оптический поток</a:t>
            </a:r>
            <a:endParaRPr/>
          </a:p>
        </p:txBody>
      </p:sp>
      <p:sp>
        <p:nvSpPr>
          <p:cNvPr id="167" name="Google Shape;167;p28"/>
          <p:cNvSpPr txBox="1"/>
          <p:nvPr/>
        </p:nvSpPr>
        <p:spPr>
          <a:xfrm>
            <a:off x="6729936" y="1790864"/>
            <a:ext cx="8634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28"/>
          <p:cNvGrpSpPr/>
          <p:nvPr/>
        </p:nvGrpSpPr>
        <p:grpSpPr>
          <a:xfrm>
            <a:off x="457200" y="1617227"/>
            <a:ext cx="8171543" cy="2455149"/>
            <a:chOff x="457200" y="1544921"/>
            <a:chExt cx="8171543" cy="2455149"/>
          </a:xfrm>
        </p:grpSpPr>
        <p:pic>
          <p:nvPicPr>
            <p:cNvPr id="169" name="Google Shape;169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73865" y="1544921"/>
              <a:ext cx="2738212" cy="2053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90530" y="1544921"/>
              <a:ext cx="2738213" cy="2053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7200" y="1544921"/>
              <a:ext cx="2738212" cy="2053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8"/>
            <p:cNvSpPr txBox="1"/>
            <p:nvPr/>
          </p:nvSpPr>
          <p:spPr>
            <a:xfrm>
              <a:off x="4111263" y="3692293"/>
              <a:ext cx="863415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3" name="Google Shape;173;p28"/>
            <p:cNvSpPr txBox="1"/>
            <p:nvPr/>
          </p:nvSpPr>
          <p:spPr>
            <a:xfrm>
              <a:off x="1394598" y="3692293"/>
              <a:ext cx="863415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4" name="Google Shape;174;p28"/>
            <p:cNvSpPr txBox="1"/>
            <p:nvPr/>
          </p:nvSpPr>
          <p:spPr>
            <a:xfrm>
              <a:off x="6827928" y="3685628"/>
              <a:ext cx="863415" cy="30777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75" name="Google Shape;175;p28"/>
          <p:cNvSpPr txBox="1"/>
          <p:nvPr/>
        </p:nvSpPr>
        <p:spPr>
          <a:xfrm>
            <a:off x="457200" y="4076228"/>
            <a:ext cx="57745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основа для переноса пикселей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моделирование движения объектов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ru-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компонент большинства методов</a:t>
            </a:r>
            <a:endParaRPr/>
          </a:p>
        </p:txBody>
      </p:sp>
      <p:sp>
        <p:nvSpPr>
          <p:cNvPr id="176" name="Google Shape;176;p2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rPr>
              <a:t>Основа для warping (переноса) пикселей</a:t>
            </a:r>
            <a:r>
              <a:rPr b="0" i="0" lang="ru-RU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457200" y="943208"/>
            <a:ext cx="8171543" cy="387553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-373" r="-970" t="-47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 </a:t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8683625" y="4657160"/>
            <a:ext cx="28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None/>
            </a:pPr>
            <a:r>
              <a:rPr lang="ru-RU"/>
              <a:t>IFRNet</a:t>
            </a:r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8683625" y="4657160"/>
            <a:ext cx="28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457200" y="943208"/>
            <a:ext cx="8171400" cy="3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ru-RU">
                <a:latin typeface="Consolas"/>
                <a:ea typeface="Consolas"/>
                <a:cs typeface="Consolas"/>
                <a:sym typeface="Consolas"/>
              </a:rPr>
              <a:t>IFRNet (Intermediate Feature Refine Network)</a:t>
            </a:r>
            <a:r>
              <a:rPr lang="ru-RU"/>
              <a:t> - архитектура для VFI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ru-RU"/>
              <a:t>основная идея: объединение оценки оптического потока и синтеза кадра в единую структуру энкодер-декодер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Проблема chicken-and-egg: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ru-RU"/>
              <a:t>в VFI целевой кадр неизвестен, что считать сначала: поток или кадр?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ru-RU">
                <a:latin typeface="Consolas"/>
                <a:ea typeface="Consolas"/>
                <a:cs typeface="Consolas"/>
                <a:sym typeface="Consolas"/>
              </a:rPr>
              <a:t>IFRNet </a:t>
            </a:r>
            <a:r>
              <a:rPr lang="ru-RU"/>
              <a:t>решает это совместным уточнением: поток и промежуточные признаки улучшают друг друга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100" y="2331798"/>
            <a:ext cx="7479800" cy="84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None/>
            </a:pPr>
            <a:r>
              <a:rPr lang="ru-RU"/>
              <a:t>IFRNet</a:t>
            </a:r>
            <a:endParaRPr/>
          </a:p>
        </p:txBody>
      </p:sp>
      <p:sp>
        <p:nvSpPr>
          <p:cNvPr id="192" name="Google Shape;192;p30"/>
          <p:cNvSpPr txBox="1"/>
          <p:nvPr/>
        </p:nvSpPr>
        <p:spPr>
          <a:xfrm>
            <a:off x="8683625" y="4657160"/>
            <a:ext cx="28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457200" y="943208"/>
            <a:ext cx="8171400" cy="3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94" name="Google Shape;194;p30" title="ifrnet_ar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43201"/>
            <a:ext cx="7940602" cy="371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None/>
            </a:pPr>
            <a:r>
              <a:rPr lang="ru-RU"/>
              <a:t>Методы оптимизации</a:t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8683625" y="4657160"/>
            <a:ext cx="28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457200" y="943208"/>
            <a:ext cx="8171400" cy="3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b="1" lang="ru-RU"/>
              <a:t>Сокращение ширины сети</a:t>
            </a:r>
            <a:r>
              <a:rPr lang="ru-RU"/>
              <a:t> - уменьшение числа каналов в сверточных слоях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b="1" lang="ru-RU"/>
              <a:t>Переход к альтернативным цветовым пространствам </a:t>
            </a:r>
            <a:r>
              <a:rPr lang="ru-RU"/>
              <a:t>- использование форматов с субдискретизацией цветоразностных компонент (например, YUV420)</a:t>
            </a:r>
            <a:endParaRPr b="1"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988" y="2367187"/>
            <a:ext cx="6852024" cy="12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 txBox="1"/>
          <p:nvPr/>
        </p:nvSpPr>
        <p:spPr>
          <a:xfrm>
            <a:off x="1146000" y="3643937"/>
            <a:ext cx="1743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исходное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52400" marR="15240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RGB-изображение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2819475" y="3643937"/>
            <a:ext cx="1743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яркостная компонента </a:t>
            </a:r>
            <a:r>
              <a:rPr b="1"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4562475" y="3643937"/>
            <a:ext cx="1743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цветоразностная компонента </a:t>
            </a:r>
            <a:r>
              <a:rPr b="1"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6255000" y="3643937"/>
            <a:ext cx="1743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цветоразностная компонента </a:t>
            </a:r>
            <a:r>
              <a:rPr b="1"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None/>
            </a:pPr>
            <a:r>
              <a:rPr lang="ru-RU"/>
              <a:t>Метрики качества</a:t>
            </a:r>
            <a:endParaRPr/>
          </a:p>
        </p:txBody>
      </p:sp>
      <p:sp>
        <p:nvSpPr>
          <p:cNvPr id="212" name="Google Shape;212;p32"/>
          <p:cNvSpPr txBox="1"/>
          <p:nvPr/>
        </p:nvSpPr>
        <p:spPr>
          <a:xfrm>
            <a:off x="8683625" y="4657160"/>
            <a:ext cx="28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/>
          </a:p>
        </p:txBody>
      </p:sp>
      <p:graphicFrame>
        <p:nvGraphicFramePr>
          <p:cNvPr id="213" name="Google Shape;213;p32"/>
          <p:cNvGraphicFramePr/>
          <p:nvPr/>
        </p:nvGraphicFramePr>
        <p:xfrm>
          <a:off x="554550" y="10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{967097FD-C12D-457B-BACE-93C94D9100F9}</a:tableStyleId>
              </a:tblPr>
              <a:tblGrid>
                <a:gridCol w="1060600"/>
                <a:gridCol w="989975"/>
                <a:gridCol w="2939725"/>
                <a:gridCol w="3044600"/>
              </a:tblGrid>
              <a:tr h="43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Уровень</a:t>
                      </a:r>
                      <a:endParaRPr b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91425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Метрика</a:t>
                      </a:r>
                      <a:endParaRPr b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Суть и особенности</a:t>
                      </a:r>
                      <a:endParaRPr b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Для чего текущей работе</a:t>
                      </a:r>
                      <a:endParaRPr b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Image-level</a:t>
                      </a:r>
                      <a:endParaRPr i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914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PSNR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Сравнивает пиксели один к одному. Плохо совпадает с тем, как видит человек.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Показать, что оптимизация (RGB/2, YUV420) не ломает картинку на уровне пикселей.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91425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914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SSIM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Учитывает яркость, контраст и структуру. Работает лучше, чем PSNR.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Оценить, не исказилась ли структура объектов после оптимизации.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91425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Perceptual</a:t>
                      </a:r>
                      <a:endParaRPr i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914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LPIPS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Сравнивает изображения через нейросеть (VGG). Хорошо видит разницу в форме и семантике.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Главная метрика качества. Используется и для оценки, и в функции потерь.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91425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914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DISTS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Смотрит отдельно на структуру и текстуру. Устойчив к мелким сдвигам.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Честная проверка. Модель его не видела во время обучения, поэтому он объективнее.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91425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</a:pPr>
            <a:r>
              <a:rPr lang="ru-RU" sz="2900"/>
              <a:t>Сравнение методов</a:t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486225" y="1010592"/>
            <a:ext cx="8171400" cy="3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b="1" lang="ru-RU"/>
              <a:t>Модели: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ru-RU">
                <a:latin typeface="Consolas"/>
                <a:ea typeface="Consolas"/>
                <a:cs typeface="Consolas"/>
                <a:sym typeface="Consolas"/>
              </a:rPr>
              <a:t>IFRNet </a:t>
            </a:r>
            <a:r>
              <a:rPr lang="ru-RU"/>
              <a:t>(baseline) - оригинальная архитектура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ru-RU">
                <a:latin typeface="Consolas"/>
                <a:ea typeface="Consolas"/>
                <a:cs typeface="Consolas"/>
                <a:sym typeface="Consolas"/>
              </a:rPr>
              <a:t>IFRNet_RGB2</a:t>
            </a:r>
            <a:r>
              <a:rPr lang="ru-RU"/>
              <a:t> - сокращение каналов в 2 раза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ru-RU">
                <a:latin typeface="Consolas"/>
                <a:ea typeface="Consolas"/>
                <a:cs typeface="Consolas"/>
                <a:sym typeface="Consolas"/>
              </a:rPr>
              <a:t>IFRNet_YUV420</a:t>
            </a:r>
            <a:r>
              <a:rPr lang="ru-RU"/>
              <a:t> - обработка в цветовом пространстве YUV420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ru-RU">
                <a:latin typeface="Consolas"/>
                <a:ea typeface="Consolas"/>
                <a:cs typeface="Consolas"/>
                <a:sym typeface="Consolas"/>
              </a:rPr>
              <a:t>IFRNet_RGB2+LPIPS</a:t>
            </a:r>
            <a:r>
              <a:rPr lang="ru-RU"/>
              <a:t> - RGB2 с добавлением LPIPS в функцию потерь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b="1" lang="ru-RU"/>
              <a:t>Обучение:</a:t>
            </a:r>
            <a:endParaRPr b="1"/>
          </a:p>
          <a:p>
            <a:pPr indent="-2730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/>
              <a:t>Датасет:</a:t>
            </a:r>
            <a:r>
              <a:rPr lang="ru-RU"/>
              <a:t> Vimeo90K</a:t>
            </a:r>
            <a:endParaRPr/>
          </a:p>
          <a:p>
            <a:pPr indent="-2730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/>
              <a:t>Базовый лосс:</a:t>
            </a:r>
            <a:r>
              <a:rPr lang="ru-RU"/>
              <a:t> L1 + Ternary + Distill</a:t>
            </a:r>
            <a:endParaRPr/>
          </a:p>
          <a:p>
            <a:pPr indent="-2730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/>
              <a:t>Для моделей 4-5:</a:t>
            </a:r>
            <a:r>
              <a:rPr lang="ru-RU"/>
              <a:t> дополнительный компонент λ·LPIPS (λ=0.1)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b="1" lang="ru-RU"/>
              <a:t>Метрики оценки:</a:t>
            </a:r>
            <a:endParaRPr b="1"/>
          </a:p>
          <a:p>
            <a:pPr indent="-2730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/>
              <a:t>Эффективность: </a:t>
            </a:r>
            <a:r>
              <a:rPr lang="ru-RU"/>
              <a:t>FLOPs, параметры, время инференса</a:t>
            </a:r>
            <a:endParaRPr/>
          </a:p>
          <a:p>
            <a:pPr indent="-2730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/>
              <a:t>Качество: </a:t>
            </a:r>
            <a:r>
              <a:rPr lang="ru-RU"/>
              <a:t>PSNR, SSIM (пиксельные), LPIPS, DISTS (перцептуальные)</a:t>
            </a:r>
            <a:endParaRPr/>
          </a:p>
        </p:txBody>
      </p:sp>
      <p:sp>
        <p:nvSpPr>
          <p:cNvPr id="220" name="Google Shape;220;p33"/>
          <p:cNvSpPr txBox="1"/>
          <p:nvPr/>
        </p:nvSpPr>
        <p:spPr>
          <a:xfrm>
            <a:off x="8580120" y="4657160"/>
            <a:ext cx="38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</a:pPr>
            <a:r>
              <a:rPr lang="ru-RU" sz="2900"/>
              <a:t>Результат сравнения</a:t>
            </a:r>
            <a:endParaRPr/>
          </a:p>
        </p:txBody>
      </p:sp>
      <p:sp>
        <p:nvSpPr>
          <p:cNvPr id="226" name="Google Shape;226;p34"/>
          <p:cNvSpPr txBox="1"/>
          <p:nvPr/>
        </p:nvSpPr>
        <p:spPr>
          <a:xfrm>
            <a:off x="8580120" y="4657160"/>
            <a:ext cx="38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27" name="Google Shape;227;p34"/>
          <p:cNvGraphicFramePr/>
          <p:nvPr/>
        </p:nvGraphicFramePr>
        <p:xfrm>
          <a:off x="561913" y="133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{967097FD-C12D-457B-BACE-93C94D9100F9}</a:tableStyleId>
              </a:tblPr>
              <a:tblGrid>
                <a:gridCol w="1265700"/>
                <a:gridCol w="964925"/>
                <a:gridCol w="1030625"/>
                <a:gridCol w="994475"/>
                <a:gridCol w="869675"/>
                <a:gridCol w="964925"/>
                <a:gridCol w="964925"/>
                <a:gridCol w="964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Модель</a:t>
                      </a:r>
                      <a:endParaRPr b="1" sz="115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91425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FLOPs (↓)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Params (↓)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Inference Time (↓)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PSNR (↑)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SSIM (↑)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LPIPS (↓)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DISTS (↓)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152400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IFRNet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914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479.441G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sng">
                          <a:solidFill>
                            <a:srgbClr val="000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4.960M</a:t>
                      </a:r>
                      <a:endParaRPr sz="1000" u="sng">
                        <a:solidFill>
                          <a:srgbClr val="0000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0.032 с/кадр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36.053</a:t>
                      </a:r>
                      <a:endParaRPr b="1" sz="10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0.9813</a:t>
                      </a:r>
                      <a:endParaRPr b="1" sz="10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sng">
                          <a:solidFill>
                            <a:srgbClr val="000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0.0503</a:t>
                      </a:r>
                      <a:endParaRPr sz="1000" u="sng">
                        <a:solidFill>
                          <a:srgbClr val="0000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sng">
                          <a:solidFill>
                            <a:srgbClr val="000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0.0342</a:t>
                      </a:r>
                      <a:endParaRPr sz="1000" u="sng">
                        <a:solidFill>
                          <a:srgbClr val="0000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IFRNet_RGB2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914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sng">
                          <a:solidFill>
                            <a:srgbClr val="000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126.191G</a:t>
                      </a:r>
                      <a:endParaRPr sz="1000" u="sng">
                        <a:solidFill>
                          <a:srgbClr val="0000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1.00M</a:t>
                      </a:r>
                      <a:endParaRPr b="1" sz="10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sng">
                          <a:solidFill>
                            <a:srgbClr val="000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0.015 с/кадр</a:t>
                      </a:r>
                      <a:endParaRPr sz="1000" u="sng">
                        <a:solidFill>
                          <a:srgbClr val="0000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sng">
                          <a:solidFill>
                            <a:srgbClr val="000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35.340</a:t>
                      </a:r>
                      <a:endParaRPr sz="1000" u="sng">
                        <a:solidFill>
                          <a:srgbClr val="0000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sng">
                          <a:solidFill>
                            <a:srgbClr val="000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0.9786</a:t>
                      </a:r>
                      <a:endParaRPr sz="1000" u="sng">
                        <a:solidFill>
                          <a:srgbClr val="0000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0.0524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0.0362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IFRNet_YUV420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914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122.682G</a:t>
                      </a:r>
                      <a:endParaRPr b="1" sz="10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1.00M</a:t>
                      </a:r>
                      <a:endParaRPr b="1" sz="10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0.014 с/кадр</a:t>
                      </a:r>
                      <a:endParaRPr b="1" sz="10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35.239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0.9782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0.0557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0.0416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IFRNet_RGB2P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5250" marB="95250" marR="152400" marL="914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sng">
                          <a:solidFill>
                            <a:srgbClr val="000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126.191G</a:t>
                      </a:r>
                      <a:endParaRPr sz="1000" u="sng">
                        <a:solidFill>
                          <a:srgbClr val="0000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1.00M</a:t>
                      </a:r>
                      <a:endParaRPr b="1" sz="10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sng">
                          <a:solidFill>
                            <a:srgbClr val="000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0.015 с/кадр</a:t>
                      </a:r>
                      <a:endParaRPr sz="1000" u="sng">
                        <a:solidFill>
                          <a:srgbClr val="0000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35.129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0.9774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0.0361</a:t>
                      </a:r>
                      <a:endParaRPr b="1" sz="10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0.0222</a:t>
                      </a:r>
                      <a:endParaRPr b="1" sz="1000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5250" marB="95250" marR="152400" marL="152400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</a:pPr>
            <a:r>
              <a:rPr lang="ru-RU" sz="2900"/>
              <a:t>Заключение</a:t>
            </a:r>
            <a:endParaRPr/>
          </a:p>
        </p:txBody>
      </p:sp>
      <p:sp>
        <p:nvSpPr>
          <p:cNvPr id="233" name="Google Shape;233;p35"/>
          <p:cNvSpPr txBox="1"/>
          <p:nvPr/>
        </p:nvSpPr>
        <p:spPr>
          <a:xfrm>
            <a:off x="8580120" y="4657160"/>
            <a:ext cx="38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/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486225" y="1564200"/>
            <a:ext cx="8171400" cy="20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</a:pPr>
            <a:r>
              <a:rPr lang="ru-RU" sz="2900"/>
              <a:t>Дальнейшее развитие</a:t>
            </a:r>
            <a:endParaRPr/>
          </a:p>
        </p:txBody>
      </p:sp>
      <p:sp>
        <p:nvSpPr>
          <p:cNvPr id="240" name="Google Shape;240;p36"/>
          <p:cNvSpPr txBox="1"/>
          <p:nvPr/>
        </p:nvSpPr>
        <p:spPr>
          <a:xfrm>
            <a:off x="8580120" y="4657160"/>
            <a:ext cx="38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ru-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486300" y="1249350"/>
            <a:ext cx="8171400" cy="26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</a:pPr>
            <a:r>
              <a:rPr lang="ru-RU"/>
              <a:t>разработку </a:t>
            </a:r>
            <a:r>
              <a:rPr b="1" lang="ru-RU"/>
              <a:t>гибридной стратегии</a:t>
            </a:r>
            <a:r>
              <a:rPr lang="ru-RU"/>
              <a:t>, адаптивно выбирающей между режимами RGB2 и YUV420 в зависимости от характеристик сцен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</a:pPr>
            <a:r>
              <a:rPr lang="ru-RU"/>
              <a:t>применение других </a:t>
            </a:r>
            <a:r>
              <a:rPr b="1" lang="ru-RU"/>
              <a:t>перцептуальных функций потерь</a:t>
            </a:r>
            <a:r>
              <a:rPr lang="ru-RU"/>
              <a:t> (например, DISTS) в процессе обучения для дальнейшего улучшения визуального качества оптимизированных моделей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</a:pPr>
            <a:r>
              <a:rPr lang="ru-RU"/>
              <a:t>адаптацию предложенных моделей для работы </a:t>
            </a:r>
            <a:r>
              <a:rPr b="1" lang="ru-RU"/>
              <a:t>на мобильных и встраиваемых устройствах</a:t>
            </a:r>
            <a:r>
              <a:rPr lang="ru-RU"/>
              <a:t> с использованием аппаратного ускорения (например, TensorRT, TFLite) и методов квантования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